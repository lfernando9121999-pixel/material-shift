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Producción</c:v>
                </c:pt>
              </c:strCache>
            </c:strRef>
          </c:tx>
          <c:spPr>
            <a:solidFill>
              <a:srgbClr val="1A7F37"/>
            </a:solidFill>
          </c:spPr>
          <c:cat>
            <c:strRef>
              <c:f>Sheet1!$A$2:$A$5</c:f>
              <c:strCache>
                <c:ptCount val="4"/>
                <c:pt idx="0">
                  <c:v>SmartROCD65</c:v>
                </c:pt>
                <c:pt idx="1">
                  <c:v>DMM2</c:v>
                </c:pt>
                <c:pt idx="2">
                  <c:v>49HR-320XPC</c:v>
                </c:pt>
                <c:pt idx="3">
                  <c:v>PV351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11.811</c:v>
                </c:pt>
                <c:pt idx="1">
                  <c:v>6.488</c:v>
                </c:pt>
                <c:pt idx="2">
                  <c:v>9.878</c:v>
                </c:pt>
                <c:pt idx="3">
                  <c:v>10.08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Det. Proceso No Prog.</c:v>
                </c:pt>
              </c:strCache>
            </c:strRef>
          </c:tx>
          <c:spPr>
            <a:solidFill>
              <a:srgbClr val="8250DF"/>
            </a:solidFill>
          </c:spPr>
          <c:cat>
            <c:strRef>
              <c:f>Sheet1!$A$2:$A$5</c:f>
              <c:strCache>
                <c:ptCount val="4"/>
                <c:pt idx="0">
                  <c:v>SmartROCD65</c:v>
                </c:pt>
                <c:pt idx="1">
                  <c:v>DMM2</c:v>
                </c:pt>
                <c:pt idx="2">
                  <c:v>49HR-320XPC</c:v>
                </c:pt>
                <c:pt idx="3">
                  <c:v>PV351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5.095</c:v>
                </c:pt>
                <c:pt idx="1">
                  <c:v>13.946</c:v>
                </c:pt>
                <c:pt idx="2">
                  <c:v>7.648</c:v>
                </c:pt>
                <c:pt idx="3">
                  <c:v>8.172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Det. Proceso Prog.</c:v>
                </c:pt>
              </c:strCache>
            </c:strRef>
          </c:tx>
          <c:spPr>
            <a:solidFill>
              <a:srgbClr val="0969DA"/>
            </a:solidFill>
          </c:spPr>
          <c:cat>
            <c:strRef>
              <c:f>Sheet1!$A$2:$A$5</c:f>
              <c:strCache>
                <c:ptCount val="4"/>
                <c:pt idx="0">
                  <c:v>SmartROCD65</c:v>
                </c:pt>
                <c:pt idx="1">
                  <c:v>DMM2</c:v>
                </c:pt>
                <c:pt idx="2">
                  <c:v>49HR-320XPC</c:v>
                </c:pt>
                <c:pt idx="3">
                  <c:v>PV351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2.135</c:v>
                </c:pt>
                <c:pt idx="1">
                  <c:v>2.022</c:v>
                </c:pt>
                <c:pt idx="2">
                  <c:v>2.273</c:v>
                </c:pt>
                <c:pt idx="3">
                  <c:v>1.985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Det. Equipo No Prog.</c:v>
                </c:pt>
              </c:strCache>
            </c:strRef>
          </c:tx>
          <c:spPr>
            <a:solidFill>
              <a:srgbClr val="BC4C00"/>
            </a:solidFill>
          </c:spPr>
          <c:cat>
            <c:strRef>
              <c:f>Sheet1!$A$2:$A$5</c:f>
              <c:strCache>
                <c:ptCount val="4"/>
                <c:pt idx="0">
                  <c:v>SmartROCD65</c:v>
                </c:pt>
                <c:pt idx="1">
                  <c:v>DMM2</c:v>
                </c:pt>
                <c:pt idx="2">
                  <c:v>49HR-320XPC</c:v>
                </c:pt>
                <c:pt idx="3">
                  <c:v>PV351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4.836</c:v>
                </c:pt>
                <c:pt idx="1">
                  <c:v>1.427</c:v>
                </c:pt>
                <c:pt idx="2">
                  <c:v>4.075</c:v>
                </c:pt>
                <c:pt idx="3">
                  <c:v>3.637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Det. Equipo Prog.</c:v>
                </c:pt>
              </c:strCache>
            </c:strRef>
          </c:tx>
          <c:spPr>
            <a:solidFill>
              <a:srgbClr val="BF8700"/>
            </a:solidFill>
          </c:spPr>
          <c:cat>
            <c:strRef>
              <c:f>Sheet1!$A$2:$A$5</c:f>
              <c:strCache>
                <c:ptCount val="4"/>
                <c:pt idx="0">
                  <c:v>SmartROCD65</c:v>
                </c:pt>
                <c:pt idx="1">
                  <c:v>DMM2</c:v>
                </c:pt>
                <c:pt idx="2">
                  <c:v>49HR-320XPC</c:v>
                </c:pt>
                <c:pt idx="3">
                  <c:v>PV351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Stand By</c:v>
                </c:pt>
              </c:strCache>
            </c:strRef>
          </c:tx>
          <c:spPr>
            <a:solidFill>
              <a:srgbClr val="6E7781"/>
            </a:solidFill>
          </c:spPr>
          <c:cat>
            <c:strRef>
              <c:f>Sheet1!$A$2:$A$5</c:f>
              <c:strCache>
                <c:ptCount val="4"/>
                <c:pt idx="0">
                  <c:v>SmartROCD65</c:v>
                </c:pt>
                <c:pt idx="1">
                  <c:v>DMM2</c:v>
                </c:pt>
                <c:pt idx="2">
                  <c:v>49HR-320XPC</c:v>
                </c:pt>
                <c:pt idx="3">
                  <c:v>PV351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0.116</c:v>
                </c:pt>
                <c:pt idx="1">
                  <c:v>0.116</c:v>
                </c:pt>
                <c:pt idx="2">
                  <c:v>0.116</c:v>
                </c:pt>
                <c:pt idx="3">
                  <c:v>0.116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Producción</c:v>
                </c:pt>
              </c:strCache>
            </c:strRef>
          </c:tx>
          <c:spPr>
            <a:solidFill>
              <a:srgbClr val="1A7F37"/>
            </a:solidFill>
          </c:spPr>
          <c:cat>
            <c:strRef>
              <c:f>Sheet1!$A$2:$A$5</c:f>
              <c:strCache>
                <c:ptCount val="4"/>
                <c:pt idx="0">
                  <c:v>P&amp;H4800</c:v>
                </c:pt>
                <c:pt idx="1">
                  <c:v>P&amp;H4100</c:v>
                </c:pt>
                <c:pt idx="2">
                  <c:v>EX8000</c:v>
                </c:pt>
                <c:pt idx="3">
                  <c:v>EX5600-6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14.358</c:v>
                </c:pt>
                <c:pt idx="1">
                  <c:v>12.751</c:v>
                </c:pt>
                <c:pt idx="2">
                  <c:v>16.686</c:v>
                </c:pt>
                <c:pt idx="3">
                  <c:v>16.945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Det. Proceso No Prog.</c:v>
                </c:pt>
              </c:strCache>
            </c:strRef>
          </c:tx>
          <c:spPr>
            <a:solidFill>
              <a:srgbClr val="8250DF"/>
            </a:solidFill>
          </c:spPr>
          <c:cat>
            <c:strRef>
              <c:f>Sheet1!$A$2:$A$5</c:f>
              <c:strCache>
                <c:ptCount val="4"/>
                <c:pt idx="0">
                  <c:v>P&amp;H4800</c:v>
                </c:pt>
                <c:pt idx="1">
                  <c:v>P&amp;H4100</c:v>
                </c:pt>
                <c:pt idx="2">
                  <c:v>EX8000</c:v>
                </c:pt>
                <c:pt idx="3">
                  <c:v>EX5600-6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4.904</c:v>
                </c:pt>
                <c:pt idx="1">
                  <c:v>5.168</c:v>
                </c:pt>
                <c:pt idx="2">
                  <c:v>2.228</c:v>
                </c:pt>
                <c:pt idx="3">
                  <c:v>0.728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Det. Proceso Prog.</c:v>
                </c:pt>
              </c:strCache>
            </c:strRef>
          </c:tx>
          <c:spPr>
            <a:solidFill>
              <a:srgbClr val="0969DA"/>
            </a:solidFill>
          </c:spPr>
          <c:cat>
            <c:strRef>
              <c:f>Sheet1!$A$2:$A$5</c:f>
              <c:strCache>
                <c:ptCount val="4"/>
                <c:pt idx="0">
                  <c:v>P&amp;H4800</c:v>
                </c:pt>
                <c:pt idx="1">
                  <c:v>P&amp;H4100</c:v>
                </c:pt>
                <c:pt idx="2">
                  <c:v>EX8000</c:v>
                </c:pt>
                <c:pt idx="3">
                  <c:v>EX5600-6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1.902</c:v>
                </c:pt>
                <c:pt idx="1">
                  <c:v>1.885</c:v>
                </c:pt>
                <c:pt idx="2">
                  <c:v>2.667</c:v>
                </c:pt>
                <c:pt idx="3">
                  <c:v>2.641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Det. Equipo No Prog.</c:v>
                </c:pt>
              </c:strCache>
            </c:strRef>
          </c:tx>
          <c:spPr>
            <a:solidFill>
              <a:srgbClr val="BC4C00"/>
            </a:solidFill>
          </c:spPr>
          <c:cat>
            <c:strRef>
              <c:f>Sheet1!$A$2:$A$5</c:f>
              <c:strCache>
                <c:ptCount val="4"/>
                <c:pt idx="0">
                  <c:v>P&amp;H4800</c:v>
                </c:pt>
                <c:pt idx="1">
                  <c:v>P&amp;H4100</c:v>
                </c:pt>
                <c:pt idx="2">
                  <c:v>EX8000</c:v>
                </c:pt>
                <c:pt idx="3">
                  <c:v>EX5600-6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2.718</c:v>
                </c:pt>
                <c:pt idx="1">
                  <c:v>4.073</c:v>
                </c:pt>
                <c:pt idx="2">
                  <c:v>2.301</c:v>
                </c:pt>
                <c:pt idx="3">
                  <c:v>3.569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Det. Equipo Prog.</c:v>
                </c:pt>
              </c:strCache>
            </c:strRef>
          </c:tx>
          <c:spPr>
            <a:solidFill>
              <a:srgbClr val="BF8700"/>
            </a:solidFill>
          </c:spPr>
          <c:cat>
            <c:strRef>
              <c:f>Sheet1!$A$2:$A$5</c:f>
              <c:strCache>
                <c:ptCount val="4"/>
                <c:pt idx="0">
                  <c:v>P&amp;H4800</c:v>
                </c:pt>
                <c:pt idx="1">
                  <c:v>P&amp;H4100</c:v>
                </c:pt>
                <c:pt idx="2">
                  <c:v>EX8000</c:v>
                </c:pt>
                <c:pt idx="3">
                  <c:v>EX5600-6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Stand By</c:v>
                </c:pt>
              </c:strCache>
            </c:strRef>
          </c:tx>
          <c:spPr>
            <a:solidFill>
              <a:srgbClr val="6E7781"/>
            </a:solidFill>
          </c:spPr>
          <c:cat>
            <c:strRef>
              <c:f>Sheet1!$A$2:$A$5</c:f>
              <c:strCache>
                <c:ptCount val="4"/>
                <c:pt idx="0">
                  <c:v>P&amp;H4800</c:v>
                </c:pt>
                <c:pt idx="1">
                  <c:v>P&amp;H4100</c:v>
                </c:pt>
                <c:pt idx="2">
                  <c:v>EX8000</c:v>
                </c:pt>
                <c:pt idx="3">
                  <c:v>EX5600-6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0.116</c:v>
                </c:pt>
                <c:pt idx="1">
                  <c:v>0.116</c:v>
                </c:pt>
                <c:pt idx="2">
                  <c:v>0.116</c:v>
                </c:pt>
                <c:pt idx="3">
                  <c:v>0.116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Producción</c:v>
                </c:pt>
              </c:strCache>
            </c:strRef>
          </c:tx>
          <c:spPr>
            <a:solidFill>
              <a:srgbClr val="1A7F37"/>
            </a:solidFill>
          </c:spPr>
          <c:cat>
            <c:strRef>
              <c:f>Sheet1!$A$2:$A$4</c:f>
              <c:strCache>
                <c:ptCount val="3"/>
                <c:pt idx="0">
                  <c:v>KOM980</c:v>
                </c:pt>
                <c:pt idx="1">
                  <c:v>CAT798</c:v>
                </c:pt>
                <c:pt idx="2">
                  <c:v>KOM930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17.47</c:v>
                </c:pt>
                <c:pt idx="1">
                  <c:v>17.771</c:v>
                </c:pt>
                <c:pt idx="2">
                  <c:v>16.525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Det. Proceso No Prog.</c:v>
                </c:pt>
              </c:strCache>
            </c:strRef>
          </c:tx>
          <c:spPr>
            <a:solidFill>
              <a:srgbClr val="8250DF"/>
            </a:solidFill>
          </c:spPr>
          <c:cat>
            <c:strRef>
              <c:f>Sheet1!$A$2:$A$4</c:f>
              <c:strCache>
                <c:ptCount val="3"/>
                <c:pt idx="0">
                  <c:v>KOM980</c:v>
                </c:pt>
                <c:pt idx="1">
                  <c:v>CAT798</c:v>
                </c:pt>
                <c:pt idx="2">
                  <c:v>KOM930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1.53</c:v>
                </c:pt>
                <c:pt idx="1">
                  <c:v>1.569</c:v>
                </c:pt>
                <c:pt idx="2">
                  <c:v>1.427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Det. Proceso Prog.</c:v>
                </c:pt>
              </c:strCache>
            </c:strRef>
          </c:tx>
          <c:spPr>
            <a:solidFill>
              <a:srgbClr val="0969DA"/>
            </a:solidFill>
          </c:spPr>
          <c:cat>
            <c:strRef>
              <c:f>Sheet1!$A$2:$A$4</c:f>
              <c:strCache>
                <c:ptCount val="3"/>
                <c:pt idx="0">
                  <c:v>KOM980</c:v>
                </c:pt>
                <c:pt idx="1">
                  <c:v>CAT798</c:v>
                </c:pt>
                <c:pt idx="2">
                  <c:v>KOM930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1.874</c:v>
                </c:pt>
                <c:pt idx="1">
                  <c:v>1.873</c:v>
                </c:pt>
                <c:pt idx="2">
                  <c:v>2.044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Det. Equipo No Prog.</c:v>
                </c:pt>
              </c:strCache>
            </c:strRef>
          </c:tx>
          <c:spPr>
            <a:solidFill>
              <a:srgbClr val="BC4C00"/>
            </a:solidFill>
          </c:spPr>
          <c:cat>
            <c:strRef>
              <c:f>Sheet1!$A$2:$A$4</c:f>
              <c:strCache>
                <c:ptCount val="3"/>
                <c:pt idx="0">
                  <c:v>KOM980</c:v>
                </c:pt>
                <c:pt idx="1">
                  <c:v>CAT798</c:v>
                </c:pt>
                <c:pt idx="2">
                  <c:v>KOM930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2.619</c:v>
                </c:pt>
                <c:pt idx="1">
                  <c:v>2.259</c:v>
                </c:pt>
                <c:pt idx="2">
                  <c:v>3.548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Det. Equipo Prog.</c:v>
                </c:pt>
              </c:strCache>
            </c:strRef>
          </c:tx>
          <c:spPr>
            <a:solidFill>
              <a:srgbClr val="BF8700"/>
            </a:solidFill>
          </c:spPr>
          <c:cat>
            <c:strRef>
              <c:f>Sheet1!$A$2:$A$4</c:f>
              <c:strCache>
                <c:ptCount val="3"/>
                <c:pt idx="0">
                  <c:v>KOM980</c:v>
                </c:pt>
                <c:pt idx="1">
                  <c:v>CAT798</c:v>
                </c:pt>
                <c:pt idx="2">
                  <c:v>KOM930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Stand By</c:v>
                </c:pt>
              </c:strCache>
            </c:strRef>
          </c:tx>
          <c:spPr>
            <a:solidFill>
              <a:srgbClr val="6E7781"/>
            </a:solidFill>
          </c:spPr>
          <c:cat>
            <c:strRef>
              <c:f>Sheet1!$A$2:$A$4</c:f>
              <c:strCache>
                <c:ptCount val="3"/>
                <c:pt idx="0">
                  <c:v>KOM980</c:v>
                </c:pt>
                <c:pt idx="1">
                  <c:v>CAT798</c:v>
                </c:pt>
                <c:pt idx="2">
                  <c:v>KOM930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0.116</c:v>
                </c:pt>
                <c:pt idx="1">
                  <c:v>0.116</c:v>
                </c:pt>
                <c:pt idx="2">
                  <c:v>0.116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Sheet1!$A$2:$A$4</c:f>
              <c:strCache>
                <c:ptCount val="3"/>
                <c:pt idx="0">
                  <c:v>Expit</c:v>
                </c:pt>
                <c:pt idx="1">
                  <c:v>Rehandle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274.21598802000017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 (Mt)</c:v>
                </c:pt>
              </c:strCache>
            </c:strRef>
          </c:tx>
          <c:dPt>
            <c:idx val="0"/>
            <c:spPr>
              <a:solidFill>
                <a:srgbClr val="1A7F37"/>
              </a:solidFill>
            </c:spPr>
          </c:dPt>
          <c:dPt>
            <c:idx val="1"/>
            <c:spPr>
              <a:solidFill>
                <a:srgbClr val="0969DA"/>
              </a:solidFill>
            </c:spPr>
          </c:dPt>
          <c:dPt>
            <c:idx val="2"/>
            <c:spPr>
              <a:solidFill>
                <a:srgbClr val="57606A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Expit</c:v>
                </c:pt>
                <c:pt idx="1">
                  <c:v>Rehandle</c:v>
                </c:pt>
                <c:pt idx="2">
                  <c:v>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274.21598802000017</c:v>
                </c:pt>
                <c:pt idx="1">
                  <c:v>25.04067004</c:v>
                </c:pt>
                <c:pt idx="2">
                  <c:v>299.25665806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Sheet1!$A$2:$A$5</c:f>
              <c:strCache>
                <c:ptCount val="4"/>
                <c:pt idx="0">
                  <c:v>Chancador</c:v>
                </c:pt>
                <c:pt idx="1">
                  <c:v>Stockpile</c:v>
                </c:pt>
                <c:pt idx="2">
                  <c:v>Botadero</c:v>
                </c:pt>
                <c:pt idx="3">
                  <c:v>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50.69450083999999</c:v>
                </c:pt>
                <c:pt idx="2">
                  <c:v>72.30781274999998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 (Mt)</c:v>
                </c:pt>
              </c:strCache>
            </c:strRef>
          </c:tx>
          <c:dPt>
            <c:idx val="0"/>
            <c:spPr>
              <a:solidFill>
                <a:srgbClr val="BC4C00"/>
              </a:solidFill>
            </c:spPr>
          </c:dPt>
          <c:dPt>
            <c:idx val="1"/>
            <c:spPr>
              <a:solidFill>
                <a:srgbClr val="BF8700"/>
              </a:solidFill>
            </c:spPr>
          </c:dPt>
          <c:dPt>
            <c:idx val="2"/>
            <c:spPr>
              <a:solidFill>
                <a:srgbClr val="8250DF"/>
              </a:solidFill>
            </c:spPr>
          </c:dPt>
          <c:dPt>
            <c:idx val="3"/>
            <c:spPr>
              <a:solidFill>
                <a:srgbClr val="57606A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Chancador</c:v>
                </c:pt>
                <c:pt idx="1">
                  <c:v>Stockpile</c:v>
                </c:pt>
                <c:pt idx="2">
                  <c:v>Botadero</c:v>
                </c:pt>
                <c:pt idx="3">
                  <c:v>Total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50.69450083999999</c:v>
                </c:pt>
                <c:pt idx="1">
                  <c:v>21.613311909999997</c:v>
                </c:pt>
                <c:pt idx="2">
                  <c:v>226.94884531000008</c:v>
                </c:pt>
                <c:pt idx="3">
                  <c:v>299.25665806000006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P&amp;H4800</c:v>
                </c:pt>
              </c:strCache>
            </c:strRef>
          </c:tx>
          <c:spPr>
            <a:solidFill>
              <a:srgbClr val="0969DA"/>
            </a:solidFill>
          </c:spPr>
          <c:cat>
            <c:strRef>
              <c:f>Sheet1!$A$2:$A$13</c:f>
              <c:strCache>
                <c:ptCount val="12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  <c:pt idx="6">
                  <c:v>Julio</c:v>
                </c:pt>
                <c:pt idx="7">
                  <c:v>Agosto</c:v>
                </c:pt>
                <c:pt idx="8">
                  <c:v>Septiembre</c:v>
                </c:pt>
                <c:pt idx="9">
                  <c:v>Octubre</c:v>
                </c:pt>
                <c:pt idx="10">
                  <c:v>Noviembre</c:v>
                </c:pt>
                <c:pt idx="11">
                  <c:v>Diciembre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9811.7</c:v>
                </c:pt>
                <c:pt idx="1">
                  <c:v>8987.5</c:v>
                </c:pt>
                <c:pt idx="2">
                  <c:v>10156.2</c:v>
                </c:pt>
                <c:pt idx="3">
                  <c:v>9191.5</c:v>
                </c:pt>
                <c:pt idx="4">
                  <c:v>11411.6</c:v>
                </c:pt>
                <c:pt idx="5">
                  <c:v>7450.4</c:v>
                </c:pt>
                <c:pt idx="6">
                  <c:v>12441.6</c:v>
                </c:pt>
                <c:pt idx="7">
                  <c:v>12368.9</c:v>
                </c:pt>
                <c:pt idx="8">
                  <c:v>8522.1</c:v>
                </c:pt>
                <c:pt idx="9">
                  <c:v>8115.0</c:v>
                </c:pt>
                <c:pt idx="10">
                  <c:v>7106.2</c:v>
                </c:pt>
                <c:pt idx="11">
                  <c:v>4415.1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P&amp;H4100</c:v>
                </c:pt>
              </c:strCache>
            </c:strRef>
          </c:tx>
          <c:spPr>
            <a:solidFill>
              <a:srgbClr val="1A7F37"/>
            </a:solidFill>
          </c:spPr>
          <c:cat>
            <c:strRef>
              <c:f>Sheet1!$A$2:$A$13</c:f>
              <c:strCache>
                <c:ptCount val="12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  <c:pt idx="6">
                  <c:v>Julio</c:v>
                </c:pt>
                <c:pt idx="7">
                  <c:v>Agosto</c:v>
                </c:pt>
                <c:pt idx="8">
                  <c:v>Septiembre</c:v>
                </c:pt>
                <c:pt idx="9">
                  <c:v>Octubre</c:v>
                </c:pt>
                <c:pt idx="10">
                  <c:v>Noviembre</c:v>
                </c:pt>
                <c:pt idx="11">
                  <c:v>Diciembre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10390.1</c:v>
                </c:pt>
                <c:pt idx="1">
                  <c:v>11384.4</c:v>
                </c:pt>
                <c:pt idx="2">
                  <c:v>11516.9</c:v>
                </c:pt>
                <c:pt idx="3">
                  <c:v>11530.1</c:v>
                </c:pt>
                <c:pt idx="4">
                  <c:v>11759.5</c:v>
                </c:pt>
                <c:pt idx="5">
                  <c:v>10262.7</c:v>
                </c:pt>
                <c:pt idx="6">
                  <c:v>11884.3</c:v>
                </c:pt>
                <c:pt idx="7">
                  <c:v>11608.7</c:v>
                </c:pt>
                <c:pt idx="8">
                  <c:v>10928.8</c:v>
                </c:pt>
                <c:pt idx="9">
                  <c:v>10168.8</c:v>
                </c:pt>
                <c:pt idx="10">
                  <c:v>9719.0</c:v>
                </c:pt>
                <c:pt idx="11">
                  <c:v>6567.3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EX8000</c:v>
                </c:pt>
              </c:strCache>
            </c:strRef>
          </c:tx>
          <c:spPr>
            <a:solidFill>
              <a:srgbClr val="BF8700"/>
            </a:solidFill>
          </c:spPr>
          <c:cat>
            <c:strRef>
              <c:f>Sheet1!$A$2:$A$13</c:f>
              <c:strCache>
                <c:ptCount val="12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  <c:pt idx="6">
                  <c:v>Julio</c:v>
                </c:pt>
                <c:pt idx="7">
                  <c:v>Agosto</c:v>
                </c:pt>
                <c:pt idx="8">
                  <c:v>Septiembre</c:v>
                </c:pt>
                <c:pt idx="9">
                  <c:v>Octubre</c:v>
                </c:pt>
                <c:pt idx="10">
                  <c:v>Noviembre</c:v>
                </c:pt>
                <c:pt idx="11">
                  <c:v>Diciembre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1883.4</c:v>
                </c:pt>
                <c:pt idx="1">
                  <c:v>1656.4</c:v>
                </c:pt>
                <c:pt idx="2">
                  <c:v>2133.7</c:v>
                </c:pt>
                <c:pt idx="3">
                  <c:v>1959.2</c:v>
                </c:pt>
                <c:pt idx="4">
                  <c:v>1722.7</c:v>
                </c:pt>
                <c:pt idx="5">
                  <c:v>1583.6</c:v>
                </c:pt>
                <c:pt idx="6">
                  <c:v>1711.2</c:v>
                </c:pt>
                <c:pt idx="7">
                  <c:v>1753.0</c:v>
                </c:pt>
                <c:pt idx="8">
                  <c:v>1559.7</c:v>
                </c:pt>
                <c:pt idx="9">
                  <c:v>1585.9</c:v>
                </c:pt>
                <c:pt idx="10">
                  <c:v>1807.0</c:v>
                </c:pt>
                <c:pt idx="11">
                  <c:v>580.2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EX5600-6</c:v>
                </c:pt>
              </c:strCache>
            </c:strRef>
          </c:tx>
          <c:spPr>
            <a:solidFill>
              <a:srgbClr val="8250DF"/>
            </a:solidFill>
          </c:spPr>
          <c:cat>
            <c:strRef>
              <c:f>Sheet1!$A$2:$A$13</c:f>
              <c:strCache>
                <c:ptCount val="12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  <c:pt idx="6">
                  <c:v>Julio</c:v>
                </c:pt>
                <c:pt idx="7">
                  <c:v>Agosto</c:v>
                </c:pt>
                <c:pt idx="8">
                  <c:v>Septiembre</c:v>
                </c:pt>
                <c:pt idx="9">
                  <c:v>Octubre</c:v>
                </c:pt>
                <c:pt idx="10">
                  <c:v>Noviembre</c:v>
                </c:pt>
                <c:pt idx="11">
                  <c:v>Diciembre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3426.1</c:v>
                </c:pt>
                <c:pt idx="1">
                  <c:v>3395.2</c:v>
                </c:pt>
                <c:pt idx="2">
                  <c:v>3895.3</c:v>
                </c:pt>
                <c:pt idx="3">
                  <c:v>3670.2</c:v>
                </c:pt>
                <c:pt idx="4">
                  <c:v>3583.9</c:v>
                </c:pt>
                <c:pt idx="5">
                  <c:v>3636.3</c:v>
                </c:pt>
                <c:pt idx="6">
                  <c:v>3275.9</c:v>
                </c:pt>
                <c:pt idx="7">
                  <c:v>3446.6</c:v>
                </c:pt>
                <c:pt idx="8">
                  <c:v>3314.3</c:v>
                </c:pt>
                <c:pt idx="9">
                  <c:v>3773.4</c:v>
                </c:pt>
                <c:pt idx="10">
                  <c:v>3179.2</c:v>
                </c:pt>
                <c:pt idx="11">
                  <c:v>3025.9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1097280" cy="64008"/>
          </a:xfrm>
          <a:prstGeom prst="rect">
            <a:avLst/>
          </a:prstGeom>
          <a:solidFill>
            <a:srgbClr val="9DB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SimA - Simulation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C9D6E3"/>
                </a:solidFill>
                <a:latin typeface="Segoe UI"/>
              </a:rPr>
              <a:t>Análisis de Estados de Equipos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7899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Segoe UI"/>
              </a:rPr>
              <a:t>06/10/2026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Resumen de Indicadores por Flota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Réplica analizada: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660"/>
                <a:gridCol w="902033"/>
                <a:gridCol w="1316968"/>
                <a:gridCol w="1822107"/>
                <a:gridCol w="1632680"/>
                <a:gridCol w="1443253"/>
                <a:gridCol w="1695822"/>
                <a:gridCol w="90203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Clase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N° de Equipos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Material / Taladros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Perforadoras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30,176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79.75%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62.03%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N° Taladros Total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36,832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Perforadoras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DMM2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7,104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94.03%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28.89%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N° Taladros Total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10,586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Perforadoras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14,422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82.93%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N° Taladros Total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30,459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Perforadoras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22,075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84.77%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49.81%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N° Taladros Total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50,841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Palas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15,722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67.84%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110.0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Palas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23,270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82.94%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64.38%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127.7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Palas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6,090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90.36%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77.31%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Palas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12,370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85.06%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83.42%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41.6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Camiones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529,264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83.69%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162.6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Camiones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227,021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90.38%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69.4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Camiones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271,423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84.93%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82.64%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67.2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Perforadoras – Por Flota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Perforadoras: 20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144"/>
                <a:gridCol w="1639200"/>
                <a:gridCol w="1829384"/>
                <a:gridCol w="1639200"/>
                <a:gridCol w="1449017"/>
                <a:gridCol w="1575806"/>
                <a:gridCol w="157580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de Perforadoras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Taladros Total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Taladros Prom.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30,176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79.75%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62.03%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36,832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5,262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DMM2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7,104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94.03%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28.89%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10,586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3,529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14,422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30,459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7,615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22,075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50,841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8,474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73,776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128,718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6,436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Perforadoras – Por 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Perforadoras: 20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144"/>
                <a:gridCol w="1639200"/>
                <a:gridCol w="1829384"/>
                <a:gridCol w="1639200"/>
                <a:gridCol w="1449017"/>
                <a:gridCol w="1575806"/>
                <a:gridCol w="157580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de Perforadoras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Taladros Total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Taladros Prom.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30,176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79.75%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62.03%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36,832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5,262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Buffer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7,104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94.03%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28.89%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10,586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3,529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36,496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81,300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8,130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73,776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128,718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6,436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Perforadoras – Por ID (1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Perforadoras: 20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541"/>
                <a:gridCol w="1074745"/>
                <a:gridCol w="1074745"/>
                <a:gridCol w="2170984"/>
                <a:gridCol w="1945288"/>
                <a:gridCol w="1719592"/>
                <a:gridCol w="141866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Taladros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4,465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62.92%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5,452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4,367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81.87%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61.20%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5,314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4,058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76.62%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60.75%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4,971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4,545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81.87%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63.69%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5,571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4,284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77.33%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63.54%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5,207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4,118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78.05%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60.53%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5,019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PS007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Precorte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4,339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80.91%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61.52%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5,298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BF001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DMM2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Buffer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2,488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94.51%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30.20%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3,725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BF002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DMM2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Buffer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2,185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94.58%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26.50%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3,203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BF003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DMM2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Buffer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2,431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92.99%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29.99%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3,658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HR001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3,752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84.86%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50.72%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7,946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HR002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3,584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82.20%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50.09%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7,567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Perforadoras – Por ID (2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Perforadoras: 20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541"/>
                <a:gridCol w="1074745"/>
                <a:gridCol w="1074745"/>
                <a:gridCol w="2170984"/>
                <a:gridCol w="1945288"/>
                <a:gridCol w="1719592"/>
                <a:gridCol w="141866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Taladros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HR003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3,606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50.06%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7,584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HR004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3,481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82.03%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48.67%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7,362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PR001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3,767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51.65%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8,654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PR002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3,753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85.20%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50.53%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8,697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PR003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3,577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47.87%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8,187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PR004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3,739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50.90%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8,576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PR005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3,700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49.52%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8,568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PR006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Producción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3,539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48.43%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8,159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Palas – Por Flota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Palas: 11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953"/>
                <a:gridCol w="1215832"/>
                <a:gridCol w="1860592"/>
                <a:gridCol w="1667164"/>
                <a:gridCol w="1473736"/>
                <a:gridCol w="1731640"/>
                <a:gridCol w="17316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de Palas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Prom.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15,722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67.84%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110.0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36.7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23,270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64.38%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127.7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25.5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6,090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77.31%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19.9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19.9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12,370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85.06%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41.6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20.8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57,452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299.3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27.2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Palas – Por 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Palas: 11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953"/>
                <a:gridCol w="1215832"/>
                <a:gridCol w="1860592"/>
                <a:gridCol w="1667164"/>
                <a:gridCol w="1473736"/>
                <a:gridCol w="1731640"/>
                <a:gridCol w="17316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de Palas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Prom.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38,992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85.07%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65.73%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237.7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29.7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Hidráulicas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18,460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86.83%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81.30%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61.6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20.5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57,452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299.3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27.2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Palas – Por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Palas: 11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4,887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63.14%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40.9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5,429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89.05%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69.93%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34.5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5,406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88.01%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70.47%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34.6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76.75%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30.4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5,310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82.04%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74.24%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27.2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1,188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16.39%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5,418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81.28%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76.47%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30.0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Eléctricas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5,726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78.21%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32.2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SH009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Hidráulicas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6,090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77.31%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19.9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SH011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Hidráulicas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85.25%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84.52%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21.3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SH012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Hidráulicas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6,089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20.3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Flota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144"/>
                <a:gridCol w="1385622"/>
                <a:gridCol w="1829384"/>
                <a:gridCol w="1639200"/>
                <a:gridCol w="1449017"/>
                <a:gridCol w="1702595"/>
                <a:gridCol w="170259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de Camiones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Prom.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529,264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162.6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227,021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69.4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271,423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67.2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163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1,027,708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299.3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1.8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144"/>
                <a:gridCol w="1385622"/>
                <a:gridCol w="1829384"/>
                <a:gridCol w="1639200"/>
                <a:gridCol w="1449017"/>
                <a:gridCol w="1702595"/>
                <a:gridCol w="170259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N° de Camiones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Total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Prom.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756,285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232.1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271,423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84.93%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67.2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163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1,027,708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299.3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328"/>
                          </a:solidFill>
                          <a:latin typeface="Segoe UI"/>
                        </a:rPr>
                        <a:t>1.8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(1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6,266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87.83%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83.25%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89.11%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83.04%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6,377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88.97%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6,394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6,475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90.48%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6,508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6,273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87.99%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HT209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6,447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89.48%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6,323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88.57%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(2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88.46%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83.22%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88.60%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6,327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6,261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87.45%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90.58%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6,406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88.35%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84.47%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89.60%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6,476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90.08%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(3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87.08%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6,391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6,321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88.69%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HT229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6,483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89.60%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6,389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6,539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90.98%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88.32%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6,363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88.61%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90.09%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(4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6,305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83.28%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HT239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87.58%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6,459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6,378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6,595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91.57%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88.48%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6,342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86.97%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6,249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87.95%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(5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HT249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89.10%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90.08%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6,371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88.72%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6,413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6,363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89.09%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6,292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6,334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6,364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88.10%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87.97%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(6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6,263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87.33%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6,472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84.52%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6,084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85.70%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6,452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89.83%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89.97%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83.02%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6,272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87.61%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6,432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HT269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90.23%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83.21%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(7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6,474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6,227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87.95%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6,435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6,343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88.48%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HT279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90.68%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6,314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87.84%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HT281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6,376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88.22%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HT282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6,333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88.10%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HT283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6,476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90.16%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(8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6,344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89.24%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6,377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88.53%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90.07%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6,549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91.28%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6,517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90.97%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6,347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88.60%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HT309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6,511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90.95%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6,615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92.19%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6,563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6,368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89.31%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83.02%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(9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6,429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89.09%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6,413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6,457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90.16%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6,619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92.20%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HT319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6,466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90.28%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90.42%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6,561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91.16%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6,489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6,588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91.87%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(10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6,508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6,437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90.16%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83.51%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6,573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HT329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6,543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91.27%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6,496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HT331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6,525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90.53%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6,549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91.92%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83.64%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HT333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6,395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89.17%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83.76%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6,509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90.42%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HT335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6,318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88.96%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6,033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84.60%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6,123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86.13%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(11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85.45%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5,812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81.66%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6,021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84.88%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6,027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5,999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84.58%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HT009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5,992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84.10%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6,314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88.37%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83.05%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5,880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84.44%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5,935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6,038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84.78%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(12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6,035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81.86%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5,984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82.48%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6,077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85.28%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5,963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84.90%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81.86%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86.65%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86.79%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6,044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5,978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82.65%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5,973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5,928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84.37%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81.96%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5,913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83.38%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5,974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84.04%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(13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6,026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6,057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85.43%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HT029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5,909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83.05%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6,017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84.42%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85.22%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83.07%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6,031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85.11%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82.42%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5,893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82.13%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5,909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83.41%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82.29%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86.27%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6,142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86.14%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82.86%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6,089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82.73%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6,079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85.10%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83.10%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Estado de Camiones – Por ID (14 de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N° de Camiones: 163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05"/>
                <a:gridCol w="1060669"/>
                <a:gridCol w="1060669"/>
                <a:gridCol w="2142552"/>
                <a:gridCol w="1919812"/>
                <a:gridCol w="1697071"/>
                <a:gridCol w="15485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Horas Productivas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Disponibilidad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Utilización (%)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HT039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6,081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85.79%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82.42%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HT040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6,020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84.91%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HT041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6,354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88.87%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83.17%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HT042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5,975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82.09%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5,838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82.35%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HT044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6,002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84.77%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82.33%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HT045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6,182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86.31%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83.29%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Análisis Diario de Tiempos – Perforadoras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Horas por equipo y día (h/día-eq)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17320"/>
          <a:ext cx="6309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554480"/>
          <a:ext cx="502919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985"/>
                <a:gridCol w="606658"/>
                <a:gridCol w="928187"/>
                <a:gridCol w="928187"/>
                <a:gridCol w="800789"/>
                <a:gridCol w="67339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N°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H. Productivas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Disponibilidad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Utilización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h/día-eq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SmartROCD65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11.81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79.75%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62.03%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23.99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DMM2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6.49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94.03%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28.89%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24.00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49HR-320XPC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9.88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82.93%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23.99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PV351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10.08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84.77%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49.81%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23.99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Análisis Diario de Tiempos – Palas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Horas por equipo y día (h/día-eq)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17320"/>
          <a:ext cx="6309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554480"/>
          <a:ext cx="502919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985"/>
                <a:gridCol w="606658"/>
                <a:gridCol w="928187"/>
                <a:gridCol w="928187"/>
                <a:gridCol w="800789"/>
                <a:gridCol w="67339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N°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H. Productivas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Disponibilidad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Utilización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h/día-eq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14.36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67.84%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24.00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12.75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82.94%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64.38%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23.99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16.69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90.36%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77.31%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24.00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16.95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85.06%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83.42%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24.00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Análisis Diario de Tiempos – Camiones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Horas por equipo y día (h/día-eq)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17320"/>
          <a:ext cx="6309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554480"/>
          <a:ext cx="502919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985"/>
                <a:gridCol w="606658"/>
                <a:gridCol w="928187"/>
                <a:gridCol w="928187"/>
                <a:gridCol w="800789"/>
                <a:gridCol w="67339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N°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H. Productivas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Disponibilidad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Utilización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h/día-eq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KOM980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17.47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88.85%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83.69%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23.61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CAT798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17.77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90.38%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83.77%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23.59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16.53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84.93%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82.64%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23.66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Orígenes y Destinos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Material en millones de toneladas (Mt)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486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2328"/>
                </a:solidFill>
                <a:latin typeface="Segoe UI"/>
              </a:rPr>
              <a:t>Reporte por Tipo de Origen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645920"/>
          <a:ext cx="54864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800600"/>
          <a:ext cx="54863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271"/>
                <a:gridCol w="1697064"/>
                <a:gridCol w="169706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Participación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Expit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274.22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91.63%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Rehandle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25.04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8.37%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</a:rPr>
                        <a:t>299.26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</a:rPr>
                        <a:t>100.00%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325880"/>
            <a:ext cx="5486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2328"/>
                </a:solidFill>
                <a:latin typeface="Segoe UI"/>
              </a:rPr>
              <a:t>Reporte por Tipo de Destino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17920" y="1645920"/>
          <a:ext cx="548640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4800600"/>
          <a:ext cx="54863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271"/>
                <a:gridCol w="1697064"/>
                <a:gridCol w="169706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Participación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Chancador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50.69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16.94%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Stockpile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21.61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7.22%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Botadero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226.95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75.84%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</a:rPr>
                        <a:t>299.26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</a:rPr>
                        <a:t>100.00%</a:t>
                      </a:r>
                    </a:p>
                  </a:txBody>
                  <a:tcPr anchor="ctr" marL="73152" marR="73152" marT="27432" marB="27432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Tiempos y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Promedio por registro de carga (min)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669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2328"/>
                </a:solidFill>
                <a:latin typeface="Segoe UI"/>
              </a:rPr>
              <a:t>Tiempos por Flota de Pala y Tipo de Camión (min)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91640"/>
          <a:ext cx="57149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046"/>
                <a:gridCol w="597803"/>
                <a:gridCol w="621715"/>
                <a:gridCol w="663561"/>
                <a:gridCol w="597803"/>
                <a:gridCol w="747254"/>
                <a:gridCol w="747254"/>
                <a:gridCol w="66356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Flota Pala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Camión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Carguío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Cuadrado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Hang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Cola Carga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Cola Desc.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Descarga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0.28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12.75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1.61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0.31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12.61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1.19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2.75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0.44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13.35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0.87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2.07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0.49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12.82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0.84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4.91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29.75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3.94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1.26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29.49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UltraClass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4.86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20.31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3.81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KOM930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3.65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1.51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1.15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20.62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3.76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328"/>
                          </a:solidFill>
                          <a:latin typeface="Segoe UI"/>
                        </a:rPr>
                        <a:t>2.30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325880"/>
            <a:ext cx="5486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2328"/>
                </a:solidFill>
                <a:latin typeface="Segoe UI"/>
              </a:rPr>
              <a:t>Productividad de Palas (t/h)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691640"/>
          <a:ext cx="5486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242"/>
                <a:gridCol w="1497993"/>
                <a:gridCol w="1366918"/>
                <a:gridCol w="93624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Flota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Horas Prod. (h)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Material (Mt)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t/h</a:t>
                      </a:r>
                    </a:p>
                  </a:txBody>
                  <a:tcPr anchor="ctr" marL="73152" marR="73152" marT="27432" marB="27432">
                    <a:solidFill>
                      <a:srgbClr val="2429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P&amp;H4800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15,722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109.98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6,995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P&amp;H4100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23,270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127.72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5,489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EX8000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6,090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19.94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3,273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EX5600-6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12,370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41.62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3,365</a:t>
                      </a:r>
                    </a:p>
                  </a:txBody>
                  <a:tcPr anchor="ctr" marL="73152" marR="73152" marT="27432" marB="27432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9418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Plan de Mina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  <a:latin typeface="Segoe UI"/>
              </a:rPr>
              <a:t>Tonelaje (kt) por mes y flota de pala  ·  Año 2027  ·  Total 299.26 Mt  ·  Réplica: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56D76"/>
                </a:solidFill>
                <a:latin typeface="Segoe UI"/>
              </a:rPr>
              <a:t>Escenario: xPBudget_bl_1_4-MODS4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56D76"/>
                </a:solidFill>
                <a:latin typeface="Segoe UI"/>
              </a:rPr>
              <a:t>SimA - Simulation Analytics  ·  06/10/2026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371600"/>
          <a:ext cx="11338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